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Agentic 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520440"/>
            <a:ext cx="2103120" cy="38100"/>
          </a:xfrm>
          <a:prstGeom prst="rect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C07040"/>
                </a:solidFill>
              </a:defRPr>
            </a:pPr>
            <a:r>
              <a:t>When AI Writes the Code and You Steer the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Wybe Harms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704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D2B1F"/>
                </a:solidFill>
              </a:defRPr>
            </a:pPr>
            <a:r>
              <a:t>What Makes It Agentic?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D2B1F"/>
                </a:solidFill>
              </a:defRPr>
            </a:pPr>
            <a:r>
              <a:t>→  Autonomous decision-making — the AI chooses which files to read, edit, and create</a:t>
            </a:r>
          </a:p>
          <a:p>
            <a:pPr>
              <a:spcAft>
                <a:spcPts val="1600"/>
              </a:spcAft>
              <a:defRPr sz="2000">
                <a:solidFill>
                  <a:srgbClr val="3D2B1F"/>
                </a:solidFill>
              </a:defRPr>
            </a:pPr>
            <a:r>
              <a:t>→  Tool use — it runs commands, searches code, and executes tests</a:t>
            </a:r>
          </a:p>
          <a:p>
            <a:pPr>
              <a:spcAft>
                <a:spcPts val="1600"/>
              </a:spcAft>
              <a:defRPr sz="2000">
                <a:solidFill>
                  <a:srgbClr val="3D2B1F"/>
                </a:solidFill>
              </a:defRPr>
            </a:pPr>
            <a:r>
              <a:t>→  Iterative problem-solving — it adapts when something fails</a:t>
            </a:r>
          </a:p>
          <a:p>
            <a:pPr>
              <a:spcAft>
                <a:spcPts val="1600"/>
              </a:spcAft>
              <a:defRPr sz="2000">
                <a:solidFill>
                  <a:srgbClr val="3D2B1F"/>
                </a:solidFill>
              </a:defRPr>
            </a:pPr>
            <a:r>
              <a:t>→  Human-in-the-loop — you approve, steer, and course-correct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09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704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D2B1F"/>
                </a:solidFill>
              </a:defRPr>
            </a:pPr>
            <a:r>
              <a:t>Agent — How It Actually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D2B1F"/>
                </a:solidFill>
              </a:defRPr>
            </a:pPr>
            <a:r>
              <a:t>A simple example: "What files are in my folder?"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1645920"/>
            <a:ext cx="365760" cy="365760"/>
          </a:xfrm>
          <a:prstGeom prst="ellipse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3D2B1F"/>
                </a:solidFill>
              </a:defRPr>
            </a:pPr>
            <a:r>
              <a:t>Human Asks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"What files are</a:t>
            </a:r>
            <a:br/>
            <a:r>
              <a:t>in my folder?"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920240" cy="50800"/>
          </a:xfrm>
          <a:prstGeom prst="rect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2522220" y="2628900"/>
            <a:ext cx="21336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1645920"/>
            <a:ext cx="365760" cy="365760"/>
          </a:xfrm>
          <a:prstGeom prst="ellipse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103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3D2B1F"/>
                </a:solidFill>
              </a:defRPr>
            </a:pPr>
            <a:r>
              <a:t>Model Thinks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I need the Bash</a:t>
            </a:r>
            <a:br/>
            <a:r>
              <a:t>tool to run "ls"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103120"/>
            <a:ext cx="1920240" cy="50800"/>
          </a:xfrm>
          <a:prstGeom prst="rect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762500" y="2628900"/>
            <a:ext cx="21336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06440" y="1645920"/>
            <a:ext cx="365760" cy="36576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3D2B1F"/>
                </a:solidFill>
              </a:defRPr>
            </a:pPr>
            <a:r>
              <a:t>Tool Call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Sends programmatic</a:t>
            </a:r>
            <a:br/>
            <a:r>
              <a:t>script to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103120"/>
            <a:ext cx="1920240" cy="508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002780" y="2628900"/>
            <a:ext cx="21336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0" y="1645920"/>
            <a:ext cx="365760" cy="365760"/>
          </a:xfrm>
          <a:prstGeom prst="ellipse">
            <a:avLst/>
          </a:prstGeom>
          <a:solidFill>
            <a:srgbClr val="5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103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3D2B1F"/>
                </a:solidFill>
              </a:defRPr>
            </a:pPr>
            <a:r>
              <a:t>Tool Executes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Terminal runs</a:t>
            </a:r>
            <a:br/>
            <a:r>
              <a:t>command and</a:t>
            </a:r>
            <a:br/>
            <a:r>
              <a:t>returns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103120"/>
            <a:ext cx="1920240" cy="50800"/>
          </a:xfrm>
          <a:prstGeom prst="rect">
            <a:avLst/>
          </a:prstGeom>
          <a:solidFill>
            <a:srgbClr val="5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243060" y="2628900"/>
            <a:ext cx="21336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7000" y="1645920"/>
            <a:ext cx="365760" cy="365760"/>
          </a:xfrm>
          <a:prstGeom prst="ellipse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103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3D2B1F"/>
                </a:solidFill>
              </a:defRPr>
            </a:pPr>
            <a:r>
              <a:t>Model Responds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"I see two files:</a:t>
            </a:r>
            <a:br/>
            <a:r>
              <a:t>• utils.js</a:t>
            </a:r>
            <a:br/>
            <a:r>
              <a:t>• main.py"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103120"/>
            <a:ext cx="1920240" cy="50800"/>
          </a:xfrm>
          <a:prstGeom prst="rect">
            <a:avLst/>
          </a:prstGeom>
          <a:solidFill>
            <a:srgbClr val="C0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794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2B1F"/>
                </a:solidFill>
              </a:defRPr>
            </a:pPr>
            <a:r>
              <a:t>What the model sends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114800"/>
            <a:ext cx="3200400" cy="1371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D48B6A"/>
                </a:solidFill>
              </a:defRPr>
            </a:pPr>
            <a:r>
              <a:t>{</a:t>
            </a:r>
            <a:br/>
            <a:r>
              <a:t>  "type": "tool_use",</a:t>
            </a:r>
            <a:br/>
            <a:r>
              <a:t>  "name": "Bash",</a:t>
            </a:r>
            <a:br/>
            <a:r>
              <a:t>  "input": { "command": "ls" }</a:t>
            </a:r>
            <a:br/>
            <a: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94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D2B1F"/>
                </a:solidFill>
              </a:defRPr>
            </a:pPr>
            <a:r>
              <a:t>← What comes 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114800"/>
            <a:ext cx="3200400" cy="1371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D48B6A"/>
                </a:solidFill>
              </a:defRPr>
            </a:pPr>
            <a:r>
              <a:t>{</a:t>
            </a:r>
            <a:br/>
            <a:r>
              <a:t>  "type": "tool_result",</a:t>
            </a:r>
            <a:br/>
            <a:r>
              <a:t>  "content": "main.py</a:t>
            </a:r>
            <a:br/>
            <a:r>
              <a:t>  utils.js"</a:t>
            </a:r>
            <a:br/>
            <a: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52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C07040"/>
                </a:solidFill>
              </a:rPr>
              <a:t>The brain decides </a:t>
            </a:r>
            <a:r>
              <a:rPr sz="1600" i="1" b="1" u="sng">
                <a:solidFill>
                  <a:srgbClr val="C07040"/>
                </a:solidFill>
              </a:rPr>
              <a:t>WHICH</a:t>
            </a:r>
            <a:r>
              <a:rPr sz="1600" i="1">
                <a:solidFill>
                  <a:srgbClr val="C07040"/>
                </a:solidFill>
              </a:rPr>
              <a:t> tool to use. The tool executes. The brain interprets the result and communicates with human.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309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704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