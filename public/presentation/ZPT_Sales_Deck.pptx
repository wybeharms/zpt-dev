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7"/>
  </p:normalViewPr>
  <p:slideViewPr>
    <p:cSldViewPr snapToGrid="0" snapToObjects="1">
      <p:cViewPr>
        <p:scale>
          <a:sx n="124" d="100"/>
          <a:sy n="124" d="100"/>
        </p:scale>
        <p:origin x="288" y="2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154480"/>
            <a:ext cx="9144000" cy="801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defRPr sz="4400" b="0">
                <a:solidFill>
                  <a:srgbClr val="FFFFFF"/>
                </a:solidFill>
                <a:latin typeface="Cormorant Garamond"/>
              </a:defRPr>
            </a:pPr>
            <a:r>
              <a:rPr lang="en-US" b="1" dirty="0"/>
              <a:t>Zero Person Team (</a:t>
            </a:r>
            <a:r>
              <a:rPr lang="en-US" b="1" dirty="0" err="1"/>
              <a:t>ZPTeam</a:t>
            </a:r>
            <a:r>
              <a:rPr lang="en-US" b="1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80122"/>
            <a:ext cx="9144000" cy="76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0">
                <a:solidFill>
                  <a:srgbClr val="C9A96E"/>
                </a:solidFill>
                <a:latin typeface="Cormorant Garamond"/>
              </a:defRPr>
            </a:pPr>
            <a:r>
              <a:rPr lang="en-GB" sz="3200" dirty="0"/>
              <a:t>AI-powered sales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4440" y="3416300"/>
            <a:ext cx="2103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55160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rPr dirty="0" err="1"/>
              <a:t>zpteam.ai</a:t>
            </a:r>
            <a:r>
              <a:rPr dirty="0"/>
              <a:t>  |  </a:t>
            </a:r>
            <a:r>
              <a:rPr dirty="0" err="1"/>
              <a:t>request@zpteam.ai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The problem. The solution.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The reality for most sales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578" y="2363264"/>
            <a:ext cx="4965404" cy="23916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rPr dirty="0"/>
              <a:t>Manual enrichment — copy-pasting between tabs for hours</a:t>
            </a:r>
          </a:p>
          <a:p>
            <a:pPr marL="285750" indent="-28575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rPr dirty="0"/>
              <a:t>Scattered data across spreadsheets, CRMs, and inboxes</a:t>
            </a:r>
          </a:p>
          <a:p>
            <a:pPr marL="285750" indent="-28575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rPr dirty="0"/>
              <a:t>Inconsistent prospect profiles — everyone does it differently</a:t>
            </a:r>
          </a:p>
          <a:p>
            <a:pPr marL="285750" indent="-28575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rPr dirty="0"/>
              <a:t>Hours spent per prospect on research that goes stale</a:t>
            </a:r>
            <a:endParaRPr lang="en-US" dirty="0"/>
          </a:p>
          <a:p>
            <a:pPr marL="285750" indent="-28575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rPr dirty="0"/>
              <a:t>No time left for actual selling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C9A96E"/>
                </a:solidFill>
                <a:latin typeface="Plus Jakarta Sans"/>
              </a:defRPr>
            </a:pPr>
            <a:r>
              <a:t>What ZPT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Plus Jakarta Sans"/>
              </a:defRPr>
            </a:pPr>
            <a:r>
              <a:t>You share your sales context and data.</a:t>
            </a:r>
            <a:br/>
            <a:br/>
            <a:r>
              <a:t>ZPT sources, enriches, qualifies, and delivers results back through your CRM.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389120"/>
            <a:ext cx="4389120" cy="100584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45262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C9A96E"/>
                </a:solidFill>
                <a:latin typeface="Plus Jakarta Sans"/>
              </a:defRPr>
            </a:pPr>
            <a:r>
              <a:t>This isn't a tool you learn.</a:t>
            </a:r>
            <a:br/>
            <a:r>
              <a:t>It's a service you receive.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75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rPr lang="en-US" dirty="0"/>
              <a:t>Enhancing the</a:t>
            </a:r>
            <a:r>
              <a:rPr dirty="0"/>
              <a:t> full sales funnel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C92C08A-7C45-DCA5-3713-98257E5FD85B}"/>
              </a:ext>
            </a:extLst>
          </p:cNvPr>
          <p:cNvGrpSpPr/>
          <p:nvPr/>
        </p:nvGrpSpPr>
        <p:grpSpPr>
          <a:xfrm>
            <a:off x="838200" y="1412005"/>
            <a:ext cx="1463040" cy="411480"/>
            <a:chOff x="914400" y="1463040"/>
            <a:chExt cx="1463040" cy="41148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463040"/>
              <a:ext cx="1463040" cy="411480"/>
            </a:xfrm>
            <a:prstGeom prst="roundRect">
              <a:avLst>
                <a:gd name="adj" fmla="val 5000"/>
              </a:avLst>
            </a:prstGeom>
            <a:solidFill>
              <a:srgbClr val="0C0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541457"/>
              <a:ext cx="1463040" cy="2637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30"/>
                </a:lnSpc>
                <a:spcAft>
                  <a:spcPts val="0"/>
                </a:spcAft>
                <a:defRPr sz="1100" b="0">
                  <a:solidFill>
                    <a:srgbClr val="FFFFFF"/>
                  </a:solidFill>
                  <a:latin typeface="Source Code Pro"/>
                </a:defRPr>
              </a:pPr>
              <a:r>
                <a:rPr dirty="0"/>
                <a:t>LinkedIn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8A06E3-B7EB-04CE-5563-547B832A7F83}"/>
              </a:ext>
            </a:extLst>
          </p:cNvPr>
          <p:cNvGrpSpPr/>
          <p:nvPr/>
        </p:nvGrpSpPr>
        <p:grpSpPr>
          <a:xfrm>
            <a:off x="2648712" y="1422212"/>
            <a:ext cx="1463040" cy="411480"/>
            <a:chOff x="2651760" y="1463040"/>
            <a:chExt cx="1463040" cy="411480"/>
          </a:xfrm>
        </p:grpSpPr>
        <p:sp>
          <p:nvSpPr>
            <p:cNvPr id="6" name="Rounded Rectangle 5"/>
            <p:cNvSpPr/>
            <p:nvPr/>
          </p:nvSpPr>
          <p:spPr>
            <a:xfrm>
              <a:off x="2651760" y="1463040"/>
              <a:ext cx="1463040" cy="411480"/>
            </a:xfrm>
            <a:prstGeom prst="roundRect">
              <a:avLst>
                <a:gd name="adj" fmla="val 5000"/>
              </a:avLst>
            </a:prstGeom>
            <a:solidFill>
              <a:srgbClr val="0C0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51760" y="1541457"/>
              <a:ext cx="1463040" cy="2637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30"/>
                </a:lnSpc>
                <a:spcAft>
                  <a:spcPts val="0"/>
                </a:spcAft>
                <a:defRPr sz="1100" b="0">
                  <a:solidFill>
                    <a:srgbClr val="FFFFFF"/>
                  </a:solidFill>
                  <a:latin typeface="Source Code Pro"/>
                </a:defRPr>
              </a:pPr>
              <a:r>
                <a:rPr dirty="0"/>
                <a:t>Google Maps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CEDF1D-AA84-B13D-DBF0-4820C4A0FF02}"/>
              </a:ext>
            </a:extLst>
          </p:cNvPr>
          <p:cNvGrpSpPr/>
          <p:nvPr/>
        </p:nvGrpSpPr>
        <p:grpSpPr>
          <a:xfrm>
            <a:off x="4459224" y="1428750"/>
            <a:ext cx="1463040" cy="411480"/>
            <a:chOff x="4389120" y="1463040"/>
            <a:chExt cx="1463040" cy="411480"/>
          </a:xfrm>
        </p:grpSpPr>
        <p:sp>
          <p:nvSpPr>
            <p:cNvPr id="8" name="Rounded Rectangle 7"/>
            <p:cNvSpPr/>
            <p:nvPr/>
          </p:nvSpPr>
          <p:spPr>
            <a:xfrm>
              <a:off x="4389120" y="1463040"/>
              <a:ext cx="1463040" cy="411480"/>
            </a:xfrm>
            <a:prstGeom prst="roundRect">
              <a:avLst>
                <a:gd name="adj" fmla="val 5000"/>
              </a:avLst>
            </a:prstGeom>
            <a:solidFill>
              <a:srgbClr val="0C0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9120" y="1541457"/>
              <a:ext cx="1463040" cy="2637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30"/>
                </a:lnSpc>
                <a:spcAft>
                  <a:spcPts val="0"/>
                </a:spcAft>
                <a:defRPr sz="1100" b="0">
                  <a:solidFill>
                    <a:srgbClr val="FFFFFF"/>
                  </a:solidFill>
                  <a:latin typeface="Source Code Pro"/>
                </a:defRPr>
              </a:pPr>
              <a:r>
                <a:t>Web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53173FA-C0CD-4DBA-2232-05C668A82B20}"/>
              </a:ext>
            </a:extLst>
          </p:cNvPr>
          <p:cNvGrpSpPr/>
          <p:nvPr/>
        </p:nvGrpSpPr>
        <p:grpSpPr>
          <a:xfrm>
            <a:off x="6269736" y="1428750"/>
            <a:ext cx="1463040" cy="411480"/>
            <a:chOff x="6126479" y="1463040"/>
            <a:chExt cx="1463040" cy="411480"/>
          </a:xfrm>
        </p:grpSpPr>
        <p:sp>
          <p:nvSpPr>
            <p:cNvPr id="10" name="Rounded Rectangle 9"/>
            <p:cNvSpPr/>
            <p:nvPr/>
          </p:nvSpPr>
          <p:spPr>
            <a:xfrm>
              <a:off x="6126479" y="1463040"/>
              <a:ext cx="1463040" cy="411480"/>
            </a:xfrm>
            <a:prstGeom prst="roundRect">
              <a:avLst>
                <a:gd name="adj" fmla="val 5000"/>
              </a:avLst>
            </a:prstGeom>
            <a:solidFill>
              <a:srgbClr val="0C0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26479" y="1541457"/>
              <a:ext cx="1463040" cy="2637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30"/>
                </a:lnSpc>
                <a:spcAft>
                  <a:spcPts val="0"/>
                </a:spcAft>
                <a:defRPr sz="1100" b="0">
                  <a:solidFill>
                    <a:srgbClr val="FFFFFF"/>
                  </a:solidFill>
                  <a:latin typeface="Source Code Pro"/>
                </a:defRPr>
              </a:pPr>
              <a:r>
                <a:t>Job boards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2B2206-FD30-8904-3DD1-37DD0C262EFF}"/>
              </a:ext>
            </a:extLst>
          </p:cNvPr>
          <p:cNvGrpSpPr/>
          <p:nvPr/>
        </p:nvGrpSpPr>
        <p:grpSpPr>
          <a:xfrm>
            <a:off x="8080248" y="1413242"/>
            <a:ext cx="1463040" cy="411480"/>
            <a:chOff x="7863840" y="1463040"/>
            <a:chExt cx="1463040" cy="411480"/>
          </a:xfrm>
        </p:grpSpPr>
        <p:sp>
          <p:nvSpPr>
            <p:cNvPr id="12" name="Rounded Rectangle 11"/>
            <p:cNvSpPr/>
            <p:nvPr/>
          </p:nvSpPr>
          <p:spPr>
            <a:xfrm>
              <a:off x="7863840" y="1463040"/>
              <a:ext cx="1463040" cy="411480"/>
            </a:xfrm>
            <a:prstGeom prst="roundRect">
              <a:avLst>
                <a:gd name="adj" fmla="val 5000"/>
              </a:avLst>
            </a:prstGeom>
            <a:solidFill>
              <a:srgbClr val="0C0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63840" y="1541457"/>
              <a:ext cx="1463040" cy="2637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30"/>
                </a:lnSpc>
                <a:spcAft>
                  <a:spcPts val="0"/>
                </a:spcAft>
                <a:defRPr sz="1100" b="0">
                  <a:solidFill>
                    <a:srgbClr val="FFFFFF"/>
                  </a:solidFill>
                  <a:latin typeface="Source Code Pro"/>
                </a:defRPr>
              </a:pPr>
              <a:r>
                <a:t>Conferences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8D2358-B794-D499-9937-F4760BE687D7}"/>
              </a:ext>
            </a:extLst>
          </p:cNvPr>
          <p:cNvGrpSpPr/>
          <p:nvPr/>
        </p:nvGrpSpPr>
        <p:grpSpPr>
          <a:xfrm>
            <a:off x="9890760" y="1428750"/>
            <a:ext cx="1463040" cy="411480"/>
            <a:chOff x="9601200" y="1463040"/>
            <a:chExt cx="1463040" cy="411480"/>
          </a:xfrm>
        </p:grpSpPr>
        <p:sp>
          <p:nvSpPr>
            <p:cNvPr id="14" name="Rounded Rectangle 13"/>
            <p:cNvSpPr/>
            <p:nvPr/>
          </p:nvSpPr>
          <p:spPr>
            <a:xfrm>
              <a:off x="9601200" y="1463040"/>
              <a:ext cx="1463040" cy="411480"/>
            </a:xfrm>
            <a:prstGeom prst="roundRect">
              <a:avLst>
                <a:gd name="adj" fmla="val 5000"/>
              </a:avLst>
            </a:prstGeom>
            <a:solidFill>
              <a:srgbClr val="0C0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0" y="1541457"/>
              <a:ext cx="1463040" cy="2637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30"/>
                </a:lnSpc>
                <a:spcAft>
                  <a:spcPts val="0"/>
                </a:spcAft>
                <a:defRPr sz="1100" b="0">
                  <a:solidFill>
                    <a:srgbClr val="FFFFFF"/>
                  </a:solidFill>
                  <a:latin typeface="Source Code Pro"/>
                </a:defRPr>
              </a:pPr>
              <a:r>
                <a:rPr lang="en-US" dirty="0"/>
                <a:t>Many More</a:t>
              </a:r>
              <a:r>
                <a:rPr dirty="0"/>
                <a:t>...</a:t>
              </a: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731520" y="2217420"/>
            <a:ext cx="10515600" cy="690372"/>
          </a:xfrm>
          <a:prstGeom prst="roundRect">
            <a:avLst>
              <a:gd name="adj" fmla="val 5000"/>
            </a:avLst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2354580"/>
            <a:ext cx="441960" cy="420181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640" y="2354580"/>
            <a:ext cx="50292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rPr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387005"/>
            <a:ext cx="2743200" cy="3615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Plus Jakarta Sans"/>
              </a:defRPr>
            </a:pPr>
            <a:r>
              <a:rPr dirty="0"/>
              <a:t>Find Prospects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17846"/>
            <a:ext cx="6217920" cy="299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DD"/>
                </a:solidFill>
                <a:latin typeface="Plus Jakarta Sans"/>
              </a:defRPr>
            </a:pPr>
            <a:r>
              <a:rPr dirty="0"/>
              <a:t>Source leads from </a:t>
            </a:r>
            <a:r>
              <a:rPr b="1" dirty="0"/>
              <a:t>LinkedIn</a:t>
            </a:r>
            <a:r>
              <a:rPr dirty="0"/>
              <a:t>, directories, </a:t>
            </a:r>
            <a:r>
              <a:rPr lang="en-US" b="1" dirty="0" err="1"/>
              <a:t>GM</a:t>
            </a:r>
            <a:r>
              <a:rPr b="1" dirty="0" err="1"/>
              <a:t>aps</a:t>
            </a:r>
            <a:r>
              <a:rPr dirty="0"/>
              <a:t>, conferences, and competitor intel.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8240" y="3144041"/>
            <a:ext cx="9875520" cy="690372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86840" y="3326921"/>
            <a:ext cx="396239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2640" y="3283326"/>
            <a:ext cx="2743200" cy="3615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Plus Jakarta Sans"/>
              </a:defRPr>
            </a:pPr>
            <a:r>
              <a:rPr dirty="0"/>
              <a:t>Enrich &amp; Qualify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8720" y="3281201"/>
            <a:ext cx="5577840" cy="29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DD"/>
                </a:solidFill>
                <a:latin typeface="Plus Jakarta Sans"/>
              </a:defRPr>
            </a:pPr>
            <a:r>
              <a:rPr dirty="0"/>
              <a:t>Build full profiles </a:t>
            </a:r>
            <a:r>
              <a:rPr lang="en-GB" dirty="0"/>
              <a:t>with decision-maker </a:t>
            </a:r>
            <a:r>
              <a:rPr dirty="0"/>
              <a:t>data, company intel, and ICP scoring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39" y="4023360"/>
            <a:ext cx="9235440" cy="690372"/>
          </a:xfrm>
          <a:prstGeom prst="roundRect">
            <a:avLst>
              <a:gd name="adj" fmla="val 5000"/>
            </a:avLst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691639" y="4160520"/>
            <a:ext cx="432996" cy="457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56677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rPr dirty="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39" y="4162645"/>
            <a:ext cx="2743200" cy="3615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Plus Jakarta Sans"/>
              </a:defRPr>
            </a:pPr>
            <a:r>
              <a:rPr dirty="0"/>
              <a:t>Personalized Outreach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19" y="4193486"/>
            <a:ext cx="5273041" cy="299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DD"/>
                </a:solidFill>
                <a:latin typeface="Plus Jakarta Sans"/>
              </a:defRPr>
            </a:pPr>
            <a:r>
              <a:rPr dirty="0"/>
              <a:t>Draft emails using the company's voice, positioning, and prospect research.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79" y="5029200"/>
            <a:ext cx="8595360" cy="690372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011679" y="5166360"/>
            <a:ext cx="454512" cy="459486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87475" y="5200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rPr dirty="0"/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79" y="5168485"/>
            <a:ext cx="2743200" cy="3615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Plus Jakarta Sans"/>
              </a:defRPr>
            </a:pPr>
            <a:r>
              <a:t>Manage Pipeline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95B3152-CC66-29FF-C660-E7875115AEFB}"/>
              </a:ext>
            </a:extLst>
          </p:cNvPr>
          <p:cNvSpPr/>
          <p:nvPr/>
        </p:nvSpPr>
        <p:spPr>
          <a:xfrm>
            <a:off x="1348740" y="3237798"/>
            <a:ext cx="441960" cy="420181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3559" y="5200920"/>
            <a:ext cx="4297680" cy="299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DD"/>
                </a:solidFill>
                <a:latin typeface="Plus Jakarta Sans"/>
              </a:defRPr>
            </a:pPr>
            <a:r>
              <a:rPr dirty="0"/>
              <a:t>Track activity, follow-ups, and sync with the existing CRM.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943600"/>
            <a:ext cx="5760720" cy="54864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6045610"/>
            <a:ext cx="5760720" cy="3354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ZPT handles every stage. You approve the output.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9E33C41-54A7-9EBA-A828-FCB54C2B7952}"/>
              </a:ext>
            </a:extLst>
          </p:cNvPr>
          <p:cNvSpPr/>
          <p:nvPr/>
        </p:nvSpPr>
        <p:spPr>
          <a:xfrm rot="16200000">
            <a:off x="6004937" y="-3206091"/>
            <a:ext cx="182126" cy="105156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31E101-342C-4BD1-B3F1-A049B1CC31DD}"/>
              </a:ext>
            </a:extLst>
          </p:cNvPr>
          <p:cNvSpPr txBox="1"/>
          <p:nvPr/>
        </p:nvSpPr>
        <p:spPr>
          <a:xfrm>
            <a:off x="1318260" y="3251705"/>
            <a:ext cx="50292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What the output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Simple Template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lus Jakarta Sans"/>
                        </a:defRPr>
                      </a:pPr>
                      <a:r>
                        <a:t>Company</a:t>
                      </a:r>
                    </a:p>
                  </a:txBody>
                  <a:tcPr anchor="ctr">
                    <a:solidFill>
                      <a:srgbClr val="0C0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lus Jakarta Sans"/>
                        </a:defRPr>
                      </a:pPr>
                      <a:r>
                        <a:t>Contact</a:t>
                      </a:r>
                    </a:p>
                  </a:txBody>
                  <a:tcPr anchor="ctr">
                    <a:solidFill>
                      <a:srgbClr val="0C0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lus Jakarta Sans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C0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lus Jakarta Sans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0C0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lus Jakarta Sans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C0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Acme Corp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Jane Smith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CRO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jane@acme.com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Verified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Beta Inc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Tom Brown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VP Sales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tom@beta.io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Enriched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Gamma 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Lisa Muller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CEO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lisa@gamma.de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Verified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Delta Ltd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Mark Roberts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Head of Sales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mark@delta.co.uk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Echo GmbH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Anna Weber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CMO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anna@echo.de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C0C28"/>
                          </a:solidFill>
                          <a:latin typeface="Plus Jakarta Sans"/>
                        </a:defRPr>
                      </a:pPr>
                      <a:r>
                        <a:t>Verified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Advanced 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4846320" cy="37935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9659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C0C28"/>
                </a:solidFill>
                <a:latin typeface="Plus Jakarta Sans"/>
              </a:defRPr>
            </a:pPr>
            <a:r>
              <a:t>Acme Corp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SaaS, 50-200 employees, Munich, Germany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C9A96E"/>
                </a:solidFill>
                <a:latin typeface="Plus Jakarta Sans"/>
              </a:defRPr>
            </a:pPr>
            <a:r>
              <a:t>ICP-Fit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834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0C0C28"/>
                </a:solidFill>
                <a:latin typeface="Plus Jakarta Sans"/>
              </a:defRPr>
            </a:pPr>
            <a:r>
              <a:t>5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C9A96E"/>
                </a:solidFill>
                <a:latin typeface="Plus Jakarta Sans"/>
              </a:defRPr>
            </a:pPr>
            <a:r>
              <a:t>Decision maker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0C0C28"/>
                </a:solidFill>
                <a:latin typeface="Plus Jakarta Sans"/>
              </a:defRPr>
            </a:pPr>
            <a:r>
              <a:t>Jane Smith, 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C9A96E"/>
                </a:solidFill>
                <a:latin typeface="Plus Jakarta Sans"/>
              </a:defRPr>
            </a:pPr>
            <a:r>
              <a:t>Pain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840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0C0C28"/>
                </a:solidFill>
                <a:latin typeface="Plus Jakarta Sans"/>
              </a:defRPr>
            </a:pPr>
            <a:r>
              <a:t>Hiring SDR, manual CRM updates, low outreach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C9A96E"/>
                </a:solidFill>
                <a:latin typeface="Plus Jakarta Sans"/>
              </a:defRPr>
            </a:pPr>
            <a:r>
              <a:t>Personalized 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343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0C0C28"/>
                </a:solidFill>
                <a:latin typeface="Plus Jakarta Sans"/>
              </a:defRPr>
            </a:pPr>
            <a:r>
              <a:t>"Saw your SDR job post on LinkedIn. ZPT could cover that function at a fraction of the cost..."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C9A96E"/>
                </a:solidFill>
                <a:latin typeface="Plus Jakarta Sans"/>
              </a:defRPr>
            </a:pPr>
            <a:r>
              <a:t>Recommended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0C0C28"/>
                </a:solidFill>
                <a:latin typeface="Plus Jakarta Sans"/>
              </a:defRPr>
            </a:pPr>
            <a:r>
              <a:t>LinkedIn + email 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Templates are fully customizable. Each client defines their own fields, scoring criteria, and output format.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One system. Reads your context, searches the web, updates your CRM, delivers structured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286000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2423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C9A96E"/>
                </a:solidFill>
                <a:latin typeface="Plus Jakarta Sans"/>
              </a:defRPr>
            </a:pPr>
            <a:r>
              <a:t>Your Company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9260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rPr dirty="0"/>
              <a:t>company-context/     ICP, positioning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rPr dirty="0"/>
              <a:t>skills/              outreach templates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rPr dirty="0"/>
              <a:t>workflows/           enrichment steps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rPr dirty="0"/>
              <a:t>memory/              lessons learned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rPr dirty="0" err="1"/>
              <a:t>CLAUDE.md</a:t>
            </a:r>
            <a:r>
              <a:rPr dirty="0"/>
              <a:t>            operating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920240"/>
            <a:ext cx="2377440" cy="41148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9385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C0C28"/>
                </a:solidFill>
                <a:latin typeface="Plus Jakarta Sans"/>
              </a:defRPr>
            </a:pPr>
            <a:r>
              <a:t>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HubSpot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Salesforce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8679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Google Drive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97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37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77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5603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258775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Web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20040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0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Google Maps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38404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38679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LinkedIn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697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37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77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949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0C0C28"/>
                </a:solidFill>
                <a:latin typeface="Plus Jakarta Sans"/>
              </a:defRPr>
            </a:pPr>
            <a:r>
              <a:t>All-in-one. No tab-switching. No copy-pasting.</a:t>
            </a:r>
            <a:br/>
            <a:r>
              <a:t>The agent reads your context, executes across all connected tools, and delivers structured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ormorant Garamond"/>
              </a:defRPr>
            </a:pPr>
            <a:r>
              <a:t>Connects to your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97491"/>
            <a:ext cx="10058400" cy="3484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No migration. No new software. ZPT plugs into what you already use.</a:t>
            </a:r>
          </a:p>
        </p:txBody>
      </p:sp>
      <p:pic>
        <p:nvPicPr>
          <p:cNvPr id="23" name="Picture 22" descr="A screenshot of a phone&#10;&#10;AI-generated content may be incorrect.">
            <a:extLst>
              <a:ext uri="{FF2B5EF4-FFF2-40B4-BE49-F238E27FC236}">
                <a16:creationId xmlns:a16="http://schemas.microsoft.com/office/drawing/2014/main" id="{8C99BCA7-476C-CC67-DC59-12D11C6E5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070" y="1854200"/>
            <a:ext cx="5245100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How we get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20240" y="1645920"/>
            <a:ext cx="731520" cy="73152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C9A96E"/>
                </a:solidFill>
                <a:latin typeface="Plus Jakarta San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Collect company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We learn your ICP, positioning, current process, and examples of good-fit accounts.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C9A96E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1645920"/>
            <a:ext cx="731520" cy="73152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79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C9A96E"/>
                </a:solidFill>
                <a:latin typeface="Plus Jakarta Sa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Connect to your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200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We hook into HubSpot, Salesforce, or whatever your team already uses.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1783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C9A96E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0" y="1645920"/>
            <a:ext cx="731520" cy="73152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C9A96E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Start delivering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ZPT begins sourcing, enriching, and qualifying prospects. Output flows back through your CRM.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572000"/>
            <a:ext cx="6217920" cy="73152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46177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C0C28"/>
                </a:solidFill>
                <a:latin typeface="Plus Jakarta Sans"/>
              </a:defRPr>
            </a:pPr>
            <a:r>
              <a:t>You get the output. We run the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C9A96E"/>
                </a:solidFill>
                <a:latin typeface="Plus Jakarta Sans"/>
              </a:defRPr>
            </a:pPr>
            <a:r>
              <a:t>Start with 100 contacts enriched for free.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Who this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Inconsistent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Companies with sales data but no reliable, repeatable way to enrich and verify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Spreadsheet chaos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Teams working from spreadsheets or a CRM that needs serious cleanup before it's useful.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More pipeline, no new hires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Firms that want to grow their pipeline without the cost and time of hiring more people.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Lean teams, big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Small sales teams that need enterprise-level output from their existing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Aft>
                <a:spcPts val="0"/>
              </a:spcAft>
              <a:defRPr sz="4000" b="0">
                <a:solidFill>
                  <a:srgbClr val="FFFFFF"/>
                </a:solidFill>
                <a:latin typeface="Cormorant Garamond"/>
              </a:defRPr>
            </a:pPr>
            <a:r>
              <a:t>Ready to see what ZPT</a:t>
            </a:r>
            <a:br/>
            <a:r>
              <a:t>can do for your sales?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rPr dirty="0" err="1"/>
              <a:t>request@zpteam.ai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C9A96E"/>
                </a:solidFill>
                <a:latin typeface="Plus Jakarta Sans"/>
              </a:defRPr>
            </a:pPr>
            <a:r>
              <a:t>Start with 100 contacts enriched for free.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657</Words>
  <Application>Microsoft Macintosh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Wybe  Harms</cp:lastModifiedBy>
  <cp:revision>13</cp:revision>
  <dcterms:created xsi:type="dcterms:W3CDTF">2013-01-27T09:14:16Z</dcterms:created>
  <dcterms:modified xsi:type="dcterms:W3CDTF">2026-03-07T06:26:31Z</dcterms:modified>
  <cp:category/>
</cp:coreProperties>
</file>