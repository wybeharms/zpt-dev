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20"/>
              </a:lnSpc>
              <a:spcAft>
                <a:spcPts val="0"/>
              </a:spcAft>
              <a:defRPr sz="4400" b="0">
                <a:solidFill>
                  <a:srgbClr val="FFFFFF"/>
                </a:solidFill>
                <a:latin typeface="Cormorant Garamond"/>
              </a:defRPr>
            </a:pPr>
            <a:r>
              <a:t>Your company knows AI is powerful.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651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20"/>
              </a:lnSpc>
              <a:spcAft>
                <a:spcPts val="0"/>
              </a:spcAft>
              <a:defRPr sz="4400" b="0">
                <a:solidFill>
                  <a:srgbClr val="C9A96E"/>
                </a:solidFill>
                <a:latin typeface="Cormorant Garamond"/>
              </a:defRPr>
            </a:pPr>
            <a:r>
              <a:t>We make it happen.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840480"/>
            <a:ext cx="210312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888899"/>
                </a:solidFill>
                <a:latin typeface="Plus Jakarta Sans"/>
              </a:defRPr>
            </a:pPr>
            <a:r>
              <a:t>zpteam.ai  |  request@zpteam.ai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0">
                <a:solidFill>
                  <a:srgbClr val="0C0C28"/>
                </a:solidFill>
                <a:latin typeface="Cormorant Garamond"/>
              </a:defRPr>
            </a:pPr>
            <a:r>
              <a:t>The overwhelm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0C0C28"/>
                </a:solidFill>
                <a:latin typeface="Plus Jakarta Sans"/>
              </a:defRPr>
            </a:pPr>
            <a:r>
              <a:t>What your team sees every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9999AA"/>
                </a:solidFill>
                <a:latin typeface="Source Code Pro"/>
              </a:defRPr>
            </a:pPr>
            <a:r>
              <a:t>MCPs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9999AA"/>
                </a:solidFill>
                <a:latin typeface="Source Code Pro"/>
              </a:defRPr>
            </a:pPr>
            <a:r>
              <a:t>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9999AA"/>
                </a:solidFill>
                <a:latin typeface="Source Code Pro"/>
              </a:defRPr>
            </a:pPr>
            <a:r>
              <a:t>sub-agents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9999AA"/>
                </a:solidFill>
                <a:latin typeface="Source Code Pro"/>
              </a:defRPr>
            </a:pPr>
            <a:r>
              <a:t>plugins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9999AA"/>
                </a:solidFill>
                <a:latin typeface="Source Code Pro"/>
              </a:defRPr>
            </a:pPr>
            <a:r>
              <a:t>CLIs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9999AA"/>
                </a:solidFill>
                <a:latin typeface="Source Code Pro"/>
              </a:defRPr>
            </a:pPr>
            <a:r>
              <a:t>memory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108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9999AA"/>
                </a:solidFill>
                <a:latin typeface="Source Code Pro"/>
              </a:defRPr>
            </a:pPr>
            <a:r>
              <a:t>agent frameworks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108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9999AA"/>
                </a:solidFill>
                <a:latin typeface="Source Code Pro"/>
              </a:defRPr>
            </a:pPr>
            <a:r>
              <a:t>prompt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108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9999AA"/>
                </a:solidFill>
                <a:latin typeface="Source Code Pro"/>
              </a:defRPr>
            </a:pPr>
            <a:r>
              <a:t>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520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9999AA"/>
                </a:solidFill>
                <a:latin typeface="Source Code Pro"/>
              </a:defRPr>
            </a:pPr>
            <a:r>
              <a:t>fine-tuning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20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9999AA"/>
                </a:solidFill>
                <a:latin typeface="Source Code Pro"/>
              </a:defRPr>
            </a:pPr>
            <a:r>
              <a:t>embeddings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520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9999AA"/>
                </a:solidFill>
                <a:latin typeface="Source Code Pro"/>
              </a:defRPr>
            </a:pPr>
            <a:r>
              <a:t>vector databases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9999AA"/>
                </a:solidFill>
                <a:latin typeface="Source Code Pro"/>
              </a:defRPr>
            </a:pPr>
            <a:r>
              <a:t>function calling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9999AA"/>
                </a:solidFill>
                <a:latin typeface="Source Code Pro"/>
              </a:defRPr>
            </a:pPr>
            <a:r>
              <a:t>tool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9999AA"/>
                </a:solidFill>
                <a:latin typeface="Source Code Pro"/>
              </a:defRPr>
            </a:pPr>
            <a:r>
              <a:t>agentic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343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9999AA"/>
                </a:solidFill>
                <a:latin typeface="Source Code Pro"/>
              </a:defRPr>
            </a:pPr>
            <a:r>
              <a:t>context windows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343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9999AA"/>
                </a:solidFill>
                <a:latin typeface="Source Code Pro"/>
              </a:defRPr>
            </a:pPr>
            <a:r>
              <a:t>system prompts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343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9999AA"/>
                </a:solidFill>
                <a:latin typeface="Source Code Pro"/>
              </a:defRPr>
            </a:pPr>
            <a:r>
              <a:t>guardrails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03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BBBBCC"/>
                </a:solidFill>
                <a:latin typeface="Plus Jakarta Sans"/>
              </a:defRPr>
            </a:pPr>
            <a:r>
              <a:t>[ Wybe: style this as a visual buzzword wall in PowerPoint 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463040"/>
            <a:ext cx="5029200" cy="4572000"/>
          </a:xfrm>
          <a:prstGeom prst="roundRect">
            <a:avLst>
              <a:gd name="adj" fmla="val 5000"/>
            </a:avLst>
          </a:prstGeom>
          <a:solidFill>
            <a:srgbClr val="0C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C9A96E"/>
                </a:solidFill>
                <a:latin typeface="Plus Jakarta Sans"/>
              </a:defRPr>
            </a:pPr>
            <a:r>
              <a:t>What ZPT does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28600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0"/>
              </a:spcAft>
              <a:defRPr sz="1800" b="0">
                <a:solidFill>
                  <a:srgbClr val="FFFFFF"/>
                </a:solidFill>
                <a:latin typeface="Plus Jakarta Sans"/>
              </a:defRPr>
            </a:pPr>
            <a:r>
              <a:t>We boil it down to what truly matters:</a:t>
            </a:r>
            <a:br/>
            <a:br/>
            <a:r>
              <a:t>One folder. One agent.</a:t>
            </a:r>
            <a:br/>
            <a:r>
              <a:t>Connected to your tools.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11480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0">
                <a:solidFill>
                  <a:srgbClr val="888899"/>
                </a:solidFill>
                <a:latin typeface="Plus Jakarta Sans"/>
              </a:defRPr>
            </a:pPr>
            <a:r>
              <a:t>Your team doesn't need to understand the technology.</a:t>
            </a:r>
            <a:br/>
            <a:r>
              <a:t>They just need a setup that works.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5120640"/>
            <a:ext cx="4389120" cy="64008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519379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C9A96E"/>
                </a:solidFill>
                <a:latin typeface="Plus Jakarta Sans"/>
              </a:defRPr>
            </a:pPr>
            <a:r>
              <a:t>First principles, not feature chasing.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0">
                <a:solidFill>
                  <a:srgbClr val="0C0C28"/>
                </a:solidFill>
                <a:latin typeface="Cormorant Garamond"/>
              </a:defRPr>
            </a:pPr>
            <a:r>
              <a:t>From chatbot to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888899"/>
                </a:solidFill>
                <a:latin typeface="Plus Jakarta Sans"/>
              </a:defRPr>
            </a:pPr>
            <a:r>
              <a:t>The same AI your team already uses, but now it actually does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0"/>
              </a:spcAft>
              <a:defRPr sz="2200" b="1">
                <a:solidFill>
                  <a:srgbClr val="0C0C28"/>
                </a:solidFill>
                <a:latin typeface="Plus Jakarta Sans"/>
              </a:defRPr>
            </a:pPr>
            <a:r>
              <a:t>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888899"/>
                </a:solidFill>
                <a:latin typeface="Plus Jakarta Sans"/>
              </a:defRPr>
            </a:pPr>
            <a:r>
              <a:t>Text in, text 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0"/>
              </a:lnSpc>
              <a:spcAft>
                <a:spcPts val="400"/>
              </a:spcAft>
              <a:defRPr sz="1400" b="0">
                <a:solidFill>
                  <a:srgbClr val="888899"/>
                </a:solidFill>
                <a:latin typeface="Plus Jakarta Sans"/>
              </a:defRPr>
            </a:pPr>
            <a:r>
              <a:t>+  Answer questions</a:t>
            </a:r>
          </a:p>
          <a:p>
            <a:pPr algn="l">
              <a:lnSpc>
                <a:spcPts val="2520"/>
              </a:lnSpc>
              <a:spcAft>
                <a:spcPts val="400"/>
              </a:spcAft>
              <a:defRPr sz="1400" b="0">
                <a:solidFill>
                  <a:srgbClr val="888899"/>
                </a:solidFill>
                <a:latin typeface="Plus Jakarta Sans"/>
              </a:defRPr>
            </a:pPr>
            <a:r>
              <a:t>+  Summarize text</a:t>
            </a:r>
          </a:p>
          <a:p>
            <a:pPr algn="l">
              <a:lnSpc>
                <a:spcPts val="2520"/>
              </a:lnSpc>
              <a:spcAft>
                <a:spcPts val="400"/>
              </a:spcAft>
              <a:defRPr sz="1400" b="0">
                <a:solidFill>
                  <a:srgbClr val="888899"/>
                </a:solidFill>
                <a:latin typeface="Plus Jakarta Sans"/>
              </a:defRPr>
            </a:pPr>
            <a:r>
              <a:t>+  Write drafts</a:t>
            </a:r>
          </a:p>
          <a:p>
            <a:pPr algn="l">
              <a:lnSpc>
                <a:spcPts val="2520"/>
              </a:lnSpc>
              <a:spcAft>
                <a:spcPts val="400"/>
              </a:spcAft>
              <a:defRPr sz="1400" b="0">
                <a:solidFill>
                  <a:srgbClr val="888899"/>
                </a:solidFill>
                <a:latin typeface="Plus Jakarta Sans"/>
              </a:defRPr>
            </a:pPr>
            <a:r>
              <a:t>+  Brainstorm ideas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937760"/>
            <a:ext cx="4389120" cy="640080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9834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C0C28"/>
                </a:solidFill>
                <a:latin typeface="Plus Jakarta Sans"/>
              </a:defRPr>
            </a:pPr>
            <a:r>
              <a:t>It talks.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0C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0"/>
              </a:spcAft>
              <a:defRPr sz="2200" b="1">
                <a:solidFill>
                  <a:srgbClr val="C9A96E"/>
                </a:solidFill>
                <a:latin typeface="Plus Jakarta Sans"/>
              </a:defRPr>
            </a:pPr>
            <a: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Plus Jakarta Sans"/>
              </a:defRPr>
            </a:pPr>
            <a:r>
              <a:t>Instruction in, actions 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2918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0"/>
              </a:lnSpc>
              <a:spcAft>
                <a:spcPts val="400"/>
              </a:spcAft>
              <a:defRPr sz="1400" b="0">
                <a:solidFill>
                  <a:srgbClr val="CCCCDD"/>
                </a:solidFill>
                <a:latin typeface="Plus Jakarta Sans"/>
              </a:defRPr>
            </a:pPr>
            <a:r>
              <a:t>+  Read files and documents</a:t>
            </a:r>
          </a:p>
          <a:p>
            <a:pPr algn="l">
              <a:lnSpc>
                <a:spcPts val="2520"/>
              </a:lnSpc>
              <a:spcAft>
                <a:spcPts val="400"/>
              </a:spcAft>
              <a:defRPr sz="1400" b="0">
                <a:solidFill>
                  <a:srgbClr val="CCCCDD"/>
                </a:solidFill>
                <a:latin typeface="Plus Jakarta Sans"/>
              </a:defRPr>
            </a:pPr>
            <a:r>
              <a:t>+  Search the web</a:t>
            </a:r>
          </a:p>
          <a:p>
            <a:pPr algn="l">
              <a:lnSpc>
                <a:spcPts val="2520"/>
              </a:lnSpc>
              <a:spcAft>
                <a:spcPts val="400"/>
              </a:spcAft>
              <a:defRPr sz="1400" b="0">
                <a:solidFill>
                  <a:srgbClr val="CCCCDD"/>
                </a:solidFill>
                <a:latin typeface="Plus Jakarta Sans"/>
              </a:defRPr>
            </a:pPr>
            <a:r>
              <a:t>+  Update your CRM</a:t>
            </a:r>
          </a:p>
          <a:p>
            <a:pPr algn="l">
              <a:lnSpc>
                <a:spcPts val="2520"/>
              </a:lnSpc>
              <a:spcAft>
                <a:spcPts val="400"/>
              </a:spcAft>
              <a:defRPr sz="1400" b="0">
                <a:solidFill>
                  <a:srgbClr val="CCCCDD"/>
                </a:solidFill>
                <a:latin typeface="Plus Jakarta Sans"/>
              </a:defRPr>
            </a:pPr>
            <a:r>
              <a:t>+  Chain multiple steps together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4937760"/>
            <a:ext cx="4389120" cy="640080"/>
          </a:xfrm>
          <a:prstGeom prst="roundRect">
            <a:avLst>
              <a:gd name="adj" fmla="val 5000"/>
            </a:avLst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49834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C0C28"/>
                </a:solidFill>
                <a:latin typeface="Plus Jakarta Sans"/>
              </a:defRPr>
            </a:pPr>
            <a:r>
              <a:t>It works.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0">
                <a:solidFill>
                  <a:srgbClr val="0C0C28"/>
                </a:solidFill>
                <a:latin typeface="Cormorant Garamond"/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888899"/>
                </a:solidFill>
                <a:latin typeface="Plus Jakarta Sans"/>
              </a:defRPr>
            </a:pPr>
            <a:r>
              <a:t>One local folder. The AI agent reads it, connects to your tools, and executes tasks.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2194560"/>
            <a:ext cx="4572000" cy="2926080"/>
          </a:xfrm>
          <a:prstGeom prst="roundRect">
            <a:avLst>
              <a:gd name="adj" fmla="val 5000"/>
            </a:avLst>
          </a:prstGeom>
          <a:solidFill>
            <a:srgbClr val="0C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C9A96E"/>
                </a:solidFill>
                <a:latin typeface="Plus Jakarta Sans"/>
              </a:defRPr>
            </a:pPr>
            <a:r>
              <a:t>Your Company Folder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83464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70"/>
              </a:lnSpc>
              <a:spcAft>
                <a:spcPts val="400"/>
              </a:spcAft>
              <a:defRPr sz="1100" b="0">
                <a:solidFill>
                  <a:srgbClr val="AAAABB"/>
                </a:solidFill>
                <a:latin typeface="Source Code Pro"/>
              </a:defRPr>
            </a:pPr>
            <a:r>
              <a:t>company-context/     ICP, positioning, overview</a:t>
            </a:r>
          </a:p>
          <a:p>
            <a:pPr algn="l">
              <a:lnSpc>
                <a:spcPts val="1870"/>
              </a:lnSpc>
              <a:spcAft>
                <a:spcPts val="400"/>
              </a:spcAft>
              <a:defRPr sz="1100" b="0">
                <a:solidFill>
                  <a:srgbClr val="AAAABB"/>
                </a:solidFill>
                <a:latin typeface="Source Code Pro"/>
              </a:defRPr>
            </a:pPr>
            <a:r>
              <a:t>skills/              templates, quality standards</a:t>
            </a:r>
          </a:p>
          <a:p>
            <a:pPr algn="l">
              <a:lnSpc>
                <a:spcPts val="1870"/>
              </a:lnSpc>
              <a:spcAft>
                <a:spcPts val="400"/>
              </a:spcAft>
              <a:defRPr sz="1100" b="0">
                <a:solidFill>
                  <a:srgbClr val="AAAABB"/>
                </a:solidFill>
                <a:latin typeface="Source Code Pro"/>
              </a:defRPr>
            </a:pPr>
            <a:r>
              <a:t>workflows/           step-by-step procedures</a:t>
            </a:r>
          </a:p>
          <a:p>
            <a:pPr algn="l">
              <a:lnSpc>
                <a:spcPts val="1870"/>
              </a:lnSpc>
              <a:spcAft>
                <a:spcPts val="400"/>
              </a:spcAft>
              <a:defRPr sz="1100" b="0">
                <a:solidFill>
                  <a:srgbClr val="AAAABB"/>
                </a:solidFill>
                <a:latin typeface="Source Code Pro"/>
              </a:defRPr>
            </a:pPr>
            <a:r>
              <a:t>memory/              lessons learned over time</a:t>
            </a:r>
          </a:p>
          <a:p>
            <a:pPr algn="l">
              <a:lnSpc>
                <a:spcPts val="1870"/>
              </a:lnSpc>
              <a:spcAft>
                <a:spcPts val="400"/>
              </a:spcAft>
              <a:defRPr sz="1100" b="0">
                <a:solidFill>
                  <a:srgbClr val="AAAABB"/>
                </a:solidFill>
                <a:latin typeface="Source Code Pro"/>
              </a:defRPr>
            </a:pPr>
            <a:r>
              <a:t>mcp/                 tool configurations</a:t>
            </a:r>
          </a:p>
          <a:p>
            <a:pPr algn="l">
              <a:lnSpc>
                <a:spcPts val="1870"/>
              </a:lnSpc>
              <a:spcAft>
                <a:spcPts val="400"/>
              </a:spcAft>
              <a:defRPr sz="1100" b="0">
                <a:solidFill>
                  <a:srgbClr val="AAAABB"/>
                </a:solidFill>
                <a:latin typeface="Source Code Pro"/>
              </a:defRPr>
            </a:pPr>
            <a:r>
              <a:t>CLAUDE.md            operating instructions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828800"/>
            <a:ext cx="2377440" cy="411480"/>
          </a:xfrm>
          <a:prstGeom prst="roundRect">
            <a:avLst>
              <a:gd name="adj" fmla="val 5000"/>
            </a:avLst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8470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0C0C28"/>
                </a:solidFill>
                <a:latin typeface="Plus Jakarta Sans"/>
              </a:defRPr>
            </a:pPr>
            <a:r>
              <a:t>AI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237744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9631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0C0C28"/>
                </a:solidFill>
                <a:latin typeface="Plus Jakarta Sans"/>
              </a:defRPr>
            </a:pPr>
            <a:r>
              <a:t>HubSpot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237744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36391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0C0C28"/>
                </a:solidFill>
                <a:latin typeface="Plus Jakarta Sans"/>
              </a:defRPr>
            </a:pPr>
            <a:r>
              <a:t>Google Drive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237744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764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0C0C28"/>
                </a:solidFill>
                <a:latin typeface="Plus Jakarta Sans"/>
              </a:defRPr>
            </a:pPr>
            <a:r>
              <a:t>Slack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606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C9A96E"/>
                </a:solidFill>
                <a:latin typeface="Plus Jakarta Sans"/>
              </a:defRPr>
            </a:pPr>
            <a:r>
              <a:t>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246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C9A96E"/>
                </a:solidFill>
                <a:latin typeface="Plus Jakarta Sans"/>
              </a:defRPr>
            </a:pPr>
            <a:r>
              <a:t>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8862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C9A96E"/>
                </a:solidFill>
                <a:latin typeface="Plus Jakarta Sans"/>
              </a:defRPr>
            </a:pPr>
            <a:r>
              <a:t>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2468880"/>
            <a:ext cx="237744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249631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0C0C28"/>
                </a:solidFill>
                <a:latin typeface="Plus Jakarta Sans"/>
              </a:defRPr>
            </a:pPr>
            <a:r>
              <a:t>Excel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3108960"/>
            <a:ext cx="237744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3136391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0C0C28"/>
                </a:solidFill>
                <a:latin typeface="Plus Jakarta Sans"/>
              </a:defRPr>
            </a:pPr>
            <a:r>
              <a:t>PowerPoint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3749039"/>
            <a:ext cx="237744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37764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0C0C28"/>
                </a:solidFill>
                <a:latin typeface="Plus Jakarta Sans"/>
              </a:defRPr>
            </a:pPr>
            <a:r>
              <a:t>Notion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606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C9A96E"/>
                </a:solidFill>
                <a:latin typeface="Plus Jakarta Sans"/>
              </a:defRPr>
            </a:pPr>
            <a:r>
              <a:t>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246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C9A96E"/>
                </a:solidFill>
                <a:latin typeface="Plus Jakarta Sans"/>
              </a:defRPr>
            </a:pPr>
            <a:r>
              <a:t>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8862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C9A96E"/>
                </a:solidFill>
                <a:latin typeface="Plus Jakarta Sans"/>
              </a:defRPr>
            </a:pPr>
            <a:r>
              <a:t>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5486400"/>
            <a:ext cx="7589520" cy="914400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553212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0C0C28"/>
                </a:solidFill>
                <a:latin typeface="Plus Jakarta Sans"/>
              </a:defRPr>
            </a:pPr>
            <a:r>
              <a:t>Same concept as OpenClaw (250K+ GitHub stars), but fully owned by you and much simpler.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89788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888899"/>
                </a:solidFill>
                <a:latin typeface="Plus Jakarta Sans"/>
              </a:defRPr>
            </a:pPr>
            <a:r>
              <a:t>The AI provider is interchangeable. Claude, ChatGPT, open-source — your folder stays the same.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0">
                <a:solidFill>
                  <a:srgbClr val="0C0C28"/>
                </a:solidFill>
                <a:latin typeface="Cormorant Garamond"/>
              </a:defRPr>
            </a:pPr>
            <a:r>
              <a:t>What we offer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888899"/>
                </a:solidFill>
                <a:latin typeface="Plus Jakarta Sans"/>
              </a:defRPr>
            </a:pPr>
            <a:r>
              <a:t>Every company is different. Choose what you need. You own everything we build.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C0C28"/>
                </a:solidFill>
                <a:latin typeface="Plus Jakarta Sans"/>
              </a:defRPr>
            </a:pPr>
            <a:r>
              <a:t>Educate your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888899"/>
                </a:solidFill>
                <a:latin typeface="Plus Jakarta Sans"/>
              </a:defRPr>
            </a:pPr>
            <a:r>
              <a:t>Presentations, demos, Q&amp;A tailored to the company's industry and workflows.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01168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C0C28"/>
                </a:solidFill>
                <a:latin typeface="Plus Jakarta Sans"/>
              </a:defRPr>
            </a:pPr>
            <a:r>
              <a:t>Set up accounts and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65176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888899"/>
                </a:solidFill>
                <a:latin typeface="Plus Jakarta Sans"/>
              </a:defRPr>
            </a:pPr>
            <a:r>
              <a:t>Configure Claude, ChatGPT, desktop apps, and get your team up and running.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C0C28"/>
                </a:solidFill>
                <a:latin typeface="Plus Jakarta Sans"/>
              </a:defRPr>
            </a:pPr>
            <a:r>
              <a:t>Build the company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5176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888899"/>
                </a:solidFill>
                <a:latin typeface="Plus Jakarta Sans"/>
              </a:defRPr>
            </a:pPr>
            <a:r>
              <a:t>Structured folder with company context, workflows, templates, and quality standards.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01168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0C0C28"/>
                </a:solidFill>
                <a:latin typeface="Plus Jakarta Sans"/>
              </a:defRPr>
            </a:pPr>
            <a:r>
              <a:t>Integrate your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65176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888899"/>
                </a:solidFill>
                <a:latin typeface="Plus Jakarta Sans"/>
              </a:defRPr>
            </a:pPr>
            <a:r>
              <a:t>Wire up MCPs and integrations to existing tools like CRM, drives, and messaging.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297680"/>
            <a:ext cx="548640" cy="320040"/>
          </a:xfrm>
          <a:prstGeom prst="roundRect">
            <a:avLst>
              <a:gd name="adj" fmla="val 5000"/>
            </a:avLst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3159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0C0C28"/>
                </a:solidFill>
                <a:latin typeface="Plus Jakarta Sans"/>
              </a:defRPr>
            </a:pPr>
            <a:r>
              <a:t>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4297680"/>
            <a:ext cx="548640" cy="320040"/>
          </a:xfrm>
          <a:prstGeom prst="roundRect">
            <a:avLst>
              <a:gd name="adj" fmla="val 5000"/>
            </a:avLst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43159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0C0C28"/>
                </a:solidFill>
                <a:latin typeface="Plus Jakarta Sans"/>
              </a:defRPr>
            </a:pPr>
            <a:r>
              <a:t>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297680"/>
            <a:ext cx="548640" cy="320040"/>
          </a:xfrm>
          <a:prstGeom prst="roundRect">
            <a:avLst>
              <a:gd name="adj" fmla="val 5000"/>
            </a:avLst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3159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0C0C28"/>
                </a:solidFill>
                <a:latin typeface="Plus Jakarta Sans"/>
              </a:defRPr>
            </a:pPr>
            <a:r>
              <a:t>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4297680"/>
            <a:ext cx="548640" cy="320040"/>
          </a:xfrm>
          <a:prstGeom prst="roundRect">
            <a:avLst>
              <a:gd name="adj" fmla="val 5000"/>
            </a:avLst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43159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0C0C28"/>
                </a:solidFill>
                <a:latin typeface="Plus Jakarta Sans"/>
              </a:defRPr>
            </a:pPr>
            <a:r>
              <a:t>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0">
                <a:solidFill>
                  <a:srgbClr val="0C0C28"/>
                </a:solidFill>
                <a:latin typeface="Cormorant Garamond"/>
              </a:defRPr>
            </a:pPr>
            <a:r>
              <a:t>What your team gets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0C0C28"/>
                </a:solidFill>
                <a:latin typeface="Plus Jakarta Sans"/>
              </a:defRPr>
            </a:pPr>
            <a:r>
              <a:t>Build presentations from scratch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888899"/>
                </a:solidFill>
                <a:latin typeface="Plus Jakarta Sans"/>
              </a:defRPr>
            </a:pPr>
            <a:r>
              <a:t>Have Claude create an entire Google Slides deck based on your company materials, style, and previous client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46304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1691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0C0C28"/>
                </a:solidFill>
                <a:latin typeface="Plus Jakarta Sans"/>
              </a:defRPr>
            </a:pPr>
            <a:r>
              <a:t>Pull from multiple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10312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888899"/>
                </a:solidFill>
                <a:latin typeface="Plus Jakarta Sans"/>
              </a:defRPr>
            </a:pPr>
            <a:r>
              <a:t>Find the right meeting notes, summarize them, and add the outcome to Notion or another system your team already uses.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6304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691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0C0C28"/>
                </a:solidFill>
                <a:latin typeface="Plus Jakarta Sans"/>
              </a:defRPr>
            </a:pPr>
            <a:r>
              <a:t>Standardize repetitive workflows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0312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888899"/>
                </a:solidFill>
                <a:latin typeface="Plus Jakarta Sans"/>
              </a:defRPr>
            </a:pPr>
            <a:r>
              <a:t>Turn recurring manual work into a repeatable workflow your team can actually use without re-explaining everything each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0C0C28"/>
                </a:solidFill>
                <a:latin typeface="Plus Jakarta Sans"/>
              </a:defRPr>
            </a:pPr>
            <a:r>
              <a:t>Create better 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888899"/>
                </a:solidFill>
                <a:latin typeface="Plus Jakarta Sans"/>
              </a:defRPr>
            </a:pPr>
            <a:r>
              <a:t>Generate summaries, drafts, reports, and updates in a format that matches how your company already works.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384048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4069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0C0C28"/>
                </a:solidFill>
                <a:latin typeface="Plus Jakarta Sans"/>
              </a:defRPr>
            </a:pPr>
            <a:r>
              <a:t>Connect context across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44805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888899"/>
                </a:solidFill>
                <a:latin typeface="Plus Jakarta Sans"/>
              </a:defRPr>
            </a:pPr>
            <a:r>
              <a:t>Use information from notes, documents, spreadsheets, and internal knowledge in one place instead of scattered chat histories.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84048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4069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0C0C28"/>
                </a:solidFill>
                <a:latin typeface="Plus Jakarta Sans"/>
              </a:defRPr>
            </a:pPr>
            <a:r>
              <a:t>Onboard team members faster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4805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888899"/>
                </a:solidFill>
                <a:latin typeface="Plus Jakarta Sans"/>
              </a:defRPr>
            </a:pPr>
            <a:r>
              <a:t>Give new hires access to the same company knowledge, templates, and workflows from day 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6309360"/>
            <a:ext cx="7589520" cy="457200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632764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0C0C28"/>
                </a:solidFill>
                <a:latin typeface="Plus Jakarta Sans"/>
              </a:defRPr>
            </a:pPr>
            <a:r>
              <a:t>Or: we identify your most repetitive workflows and automate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0">
                <a:solidFill>
                  <a:srgbClr val="0C0C28"/>
                </a:solidFill>
                <a:latin typeface="Cormorant Garamond"/>
              </a:defRPr>
            </a:pPr>
            <a:r>
              <a:t>How a ZPT Advisory engagement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888899"/>
                </a:solidFill>
                <a:latin typeface="Plus Jakarta Sans"/>
              </a:defRPr>
            </a:pPr>
            <a:r>
              <a:t>We visit your company, understand how the team works, and build the right AI setup.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BBBBCC"/>
                </a:solidFill>
                <a:latin typeface="Plus Jakarta Sans"/>
              </a:defRPr>
            </a:pPr>
            <a:r>
              <a:t>[ Wybe: add helicopter/SWAT team visual from the website here ]</a:t>
            </a:r>
          </a:p>
        </p:txBody>
      </p:sp>
      <p:sp>
        <p:nvSpPr>
          <p:cNvPr id="6" name="Oval 5"/>
          <p:cNvSpPr/>
          <p:nvPr/>
        </p:nvSpPr>
        <p:spPr>
          <a:xfrm>
            <a:off x="1234440" y="2286000"/>
            <a:ext cx="640080" cy="640080"/>
          </a:xfrm>
          <a:prstGeom prst="ellipse">
            <a:avLst/>
          </a:prstGeom>
          <a:solidFill>
            <a:srgbClr val="0C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35915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C9A96E"/>
                </a:solidFill>
                <a:latin typeface="Plus Jakarta San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0C0C28"/>
                </a:solidFill>
                <a:latin typeface="Plus Jakarta Sans"/>
              </a:defRPr>
            </a:pPr>
            <a:r>
              <a:t>Understand workflows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576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888899"/>
                </a:solidFill>
                <a:latin typeface="Plus Jakarta Sans"/>
              </a:defRPr>
            </a:pPr>
            <a:r>
              <a:t>Learn the team's tools, processes, and pain points.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39572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C9A96E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566160" y="2286000"/>
            <a:ext cx="640080" cy="640080"/>
          </a:xfrm>
          <a:prstGeom prst="ellipse">
            <a:avLst/>
          </a:prstGeom>
          <a:solidFill>
            <a:srgbClr val="0C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35915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C9A96E"/>
                </a:solidFill>
                <a:latin typeface="Plus Jakarta San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0C0C28"/>
                </a:solidFill>
                <a:latin typeface="Plus Jakarta Sans"/>
              </a:defRPr>
            </a:pPr>
            <a:r>
              <a:t>Educate the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6576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888899"/>
                </a:solidFill>
                <a:latin typeface="Plus Jakarta Sans"/>
              </a:defRPr>
            </a:pPr>
            <a:r>
              <a:t>Presentations and hands-on demos tailored to the company's workflows.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39572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C9A96E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5897880" y="2286000"/>
            <a:ext cx="640080" cy="640080"/>
          </a:xfrm>
          <a:prstGeom prst="ellipse">
            <a:avLst/>
          </a:prstGeom>
          <a:solidFill>
            <a:srgbClr val="0C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235915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C9A96E"/>
                </a:solidFill>
                <a:latin typeface="Plus Jakarta San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0C0C28"/>
                </a:solidFill>
                <a:latin typeface="Plus Jakarta Sans"/>
              </a:defRPr>
            </a:pPr>
            <a:r>
              <a:t>Set up accounts &amp;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6576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888899"/>
                </a:solidFill>
                <a:latin typeface="Plus Jakarta Sans"/>
              </a:defRPr>
            </a:pPr>
            <a:r>
              <a:t>Configure AI tools and desktop apps for every team member.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39572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C9A96E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8229599" y="2286000"/>
            <a:ext cx="640080" cy="640080"/>
          </a:xfrm>
          <a:prstGeom prst="ellipse">
            <a:avLst/>
          </a:prstGeom>
          <a:solidFill>
            <a:srgbClr val="0C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9" y="235915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C9A96E"/>
                </a:solidFill>
                <a:latin typeface="Plus Jakarta San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59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0C0C28"/>
                </a:solidFill>
                <a:latin typeface="Plus Jakarta Sans"/>
              </a:defRPr>
            </a:pPr>
            <a:r>
              <a:t>Build the company folder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6576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888899"/>
                </a:solidFill>
                <a:latin typeface="Plus Jakarta Sans"/>
              </a:defRPr>
            </a:pPr>
            <a:r>
              <a:t>Optionally create a tailored setup with context, skills, and integrations.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199" y="239572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C9A96E"/>
                </a:solidFill>
                <a:latin typeface="Plus Jakarta Sans"/>
              </a:defRPr>
            </a:pPr>
            <a: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10561320" y="2286000"/>
            <a:ext cx="640080" cy="640080"/>
          </a:xfrm>
          <a:prstGeom prst="ellipse">
            <a:avLst/>
          </a:prstGeom>
          <a:solidFill>
            <a:srgbClr val="0C0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61320" y="235915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C9A96E"/>
                </a:solidFill>
                <a:latin typeface="Plus Jakarta San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0C0C28"/>
                </a:solidFill>
                <a:latin typeface="Plus Jakarta Sans"/>
              </a:defRPr>
            </a:pPr>
            <a:r>
              <a:t>Train the team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6576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888899"/>
                </a:solidFill>
                <a:latin typeface="Plus Jakarta Sans"/>
              </a:defRPr>
            </a:pPr>
            <a:r>
              <a:t>Hands-on training so the team works with AI as a co-worker.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6080" y="5029200"/>
            <a:ext cx="6217920" cy="640080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0" y="507492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0C0C28"/>
                </a:solidFill>
                <a:latin typeface="Plus Jakarta Sans"/>
              </a:defRPr>
            </a:pPr>
            <a:r>
              <a:t>Everything ZPT builds stays with the company. No lock-in, no dependencies.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0">
                <a:solidFill>
                  <a:srgbClr val="0C0C28"/>
                </a:solidFill>
                <a:latin typeface="Cormorant Garamond"/>
              </a:defRPr>
            </a:pPr>
            <a:r>
              <a:t>What you 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0C0C28"/>
                </a:solidFill>
                <a:latin typeface="Plus Jakarta Sans"/>
              </a:defRPr>
            </a:pPr>
            <a:r>
              <a:t>100% company-owned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888899"/>
                </a:solidFill>
                <a:latin typeface="Plus Jakarta Sans"/>
              </a:defRPr>
            </a:pPr>
            <a:r>
              <a:t>The entire system runs on a local folder on your machine. No data leaves your network. No vendor lock-in. The most private AI setup possible.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12064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0C0C28"/>
                </a:solidFill>
                <a:latin typeface="Plus Jakarta Sans"/>
              </a:defRPr>
            </a:pPr>
            <a:r>
              <a:t>Open-source compatible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888899"/>
                </a:solidFill>
                <a:latin typeface="Plus Jakarta Sans"/>
              </a:defRPr>
            </a:pPr>
            <a:r>
              <a:t>Concerned about sharing data with AI labs? Run the system on open-source models (Llama, Mistral, etc.). Same folder, same workflow, full control.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512064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9776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0C0C28"/>
                </a:solidFill>
                <a:latin typeface="Plus Jakarta Sans"/>
              </a:defRPr>
            </a:pPr>
            <a:r>
              <a:t>Built on Claude Code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19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888899"/>
                </a:solidFill>
                <a:latin typeface="Plus Jakarta Sans"/>
              </a:defRPr>
            </a:pPr>
            <a:r>
              <a:t>The same local folder system used by developers worldwide (CLAUDE.md, skills/, memory/), but purpose-built for business operations instead of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49039"/>
            <a:ext cx="512064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9776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0C0C28"/>
                </a:solidFill>
                <a:latin typeface="Plus Jakarta Sans"/>
              </a:defRPr>
            </a:pPr>
            <a:r>
              <a:t>Plugs into what you already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389119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888899"/>
                </a:solidFill>
                <a:latin typeface="Plus Jakarta Sans"/>
              </a:defRPr>
            </a:pPr>
            <a:r>
              <a:t>Claude in your spreadsheets. Claude in your presentations. Connect to Excel, PowerPoint, Google Drive, Slack, HubSpot, and more. No migration required.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0C0C28"/>
                </a:solidFill>
                <a:latin typeface="Plus Jakarta Sans"/>
              </a:defRPr>
            </a:pPr>
            <a:r>
              <a:t>The AI provider is interchangeable: Claude, ChatGPT, or open-source. Your company folder stays the same.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0">
                <a:solidFill>
                  <a:srgbClr val="FFFFFF"/>
                </a:solidFill>
                <a:latin typeface="Cormorant Garamond"/>
              </a:defRPr>
            </a:pPr>
            <a:r>
              <a:t>Advisory tiers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888899"/>
                </a:solidFill>
                <a:latin typeface="Plus Jakarta Sans"/>
              </a:defRPr>
            </a:pPr>
            <a:r>
              <a:t>Choose what fits — pricing on request.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Plus Jakarta Sans"/>
              </a:defRPr>
            </a:pPr>
            <a:r>
              <a:t>Educate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2606040"/>
            <a:ext cx="1463040" cy="365760"/>
          </a:xfrm>
          <a:prstGeom prst="roundRect">
            <a:avLst>
              <a:gd name="adj" fmla="val 5000"/>
            </a:avLst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624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C0C28"/>
                </a:solidFill>
                <a:latin typeface="Plus Jakarta Sans"/>
              </a:defRPr>
            </a:pPr>
            <a:r>
              <a:t>Half-day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C9A96E"/>
                </a:solidFill>
                <a:latin typeface="Plus Jakarta Sans"/>
              </a:defRPr>
            </a:pPr>
            <a:r>
              <a:t>Your team understands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49039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400"/>
              </a:spcAft>
              <a:defRPr sz="1200" b="0">
                <a:solidFill>
                  <a:srgbClr val="AAAABB"/>
                </a:solidFill>
                <a:latin typeface="Plus Jakarta Sans"/>
              </a:defRPr>
            </a:pPr>
            <a:r>
              <a:t>+  What AI agents are and how they work</a:t>
            </a:r>
          </a:p>
          <a:p>
            <a:pPr algn="l">
              <a:lnSpc>
                <a:spcPts val="2039"/>
              </a:lnSpc>
              <a:spcAft>
                <a:spcPts val="400"/>
              </a:spcAft>
              <a:defRPr sz="1200" b="0">
                <a:solidFill>
                  <a:srgbClr val="AAAABB"/>
                </a:solidFill>
                <a:latin typeface="Plus Jakarta Sans"/>
              </a:defRPr>
            </a:pPr>
            <a:r>
              <a:t>+  Industry-specific use cases and demos</a:t>
            </a:r>
          </a:p>
          <a:p>
            <a:pPr algn="l">
              <a:lnSpc>
                <a:spcPts val="2039"/>
              </a:lnSpc>
              <a:spcAft>
                <a:spcPts val="400"/>
              </a:spcAft>
              <a:defRPr sz="1200" b="0">
                <a:solidFill>
                  <a:srgbClr val="AAAABB"/>
                </a:solidFill>
                <a:latin typeface="Plus Jakarta Sans"/>
              </a:defRPr>
            </a:pPr>
            <a:r>
              <a:t>+  Hands-on Q&amp;A with your team's workflows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828800"/>
            <a:ext cx="3291840" cy="438912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 w="1905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0116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Plus Jakarta Sans"/>
              </a:defRPr>
            </a:pPr>
            <a:r>
              <a:t>Equip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59" y="2606040"/>
            <a:ext cx="1463040" cy="365760"/>
          </a:xfrm>
          <a:prstGeom prst="roundRect">
            <a:avLst>
              <a:gd name="adj" fmla="val 5000"/>
            </a:avLst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59" y="2624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C0C28"/>
                </a:solidFill>
                <a:latin typeface="Plus Jakarta Sans"/>
              </a:defRPr>
            </a:pPr>
            <a:r>
              <a:t>1-3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154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C9A96E"/>
                </a:solidFill>
                <a:latin typeface="Plus Jakarta Sans"/>
              </a:defRPr>
            </a:pPr>
            <a:r>
              <a:t>Your team uses AI daily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3749039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400"/>
              </a:spcAft>
              <a:defRPr sz="1200" b="0">
                <a:solidFill>
                  <a:srgbClr val="AAAABB"/>
                </a:solidFill>
                <a:latin typeface="Plus Jakarta Sans"/>
              </a:defRPr>
            </a:pPr>
            <a:r>
              <a:t>+  Everything in Educate, plus:</a:t>
            </a:r>
          </a:p>
          <a:p>
            <a:pPr algn="l">
              <a:lnSpc>
                <a:spcPts val="2039"/>
              </a:lnSpc>
              <a:spcAft>
                <a:spcPts val="400"/>
              </a:spcAft>
              <a:defRPr sz="1200" b="0">
                <a:solidFill>
                  <a:srgbClr val="AAAABB"/>
                </a:solidFill>
                <a:latin typeface="Plus Jakarta Sans"/>
              </a:defRPr>
            </a:pPr>
            <a:r>
              <a:t>+  Set up accounts and desktop apps</a:t>
            </a:r>
          </a:p>
          <a:p>
            <a:pPr algn="l">
              <a:lnSpc>
                <a:spcPts val="2039"/>
              </a:lnSpc>
              <a:spcAft>
                <a:spcPts val="400"/>
              </a:spcAft>
              <a:defRPr sz="1200" b="0">
                <a:solidFill>
                  <a:srgbClr val="AAAABB"/>
                </a:solidFill>
                <a:latin typeface="Plus Jakarta Sans"/>
              </a:defRPr>
            </a:pPr>
            <a:r>
              <a:t>+  Configure company context and templates</a:t>
            </a:r>
          </a:p>
          <a:p>
            <a:pPr algn="l">
              <a:lnSpc>
                <a:spcPts val="2039"/>
              </a:lnSpc>
              <a:spcAft>
                <a:spcPts val="400"/>
              </a:spcAft>
              <a:defRPr sz="1200" b="0">
                <a:solidFill>
                  <a:srgbClr val="AAAABB"/>
                </a:solidFill>
                <a:latin typeface="Plus Jakarta Sans"/>
              </a:defRPr>
            </a:pPr>
            <a:r>
              <a:t>+  Connect existing tools via integrations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828800"/>
            <a:ext cx="3291840" cy="4389120"/>
          </a:xfrm>
          <a:prstGeom prst="roundRect">
            <a:avLst>
              <a:gd name="adj" fmla="val 5000"/>
            </a:avLst>
          </a:prstGeom>
          <a:solidFill>
            <a:srgbClr val="1A1A3E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0116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Plus Jakarta Sans"/>
              </a:defRPr>
            </a:pPr>
            <a:r>
              <a:t>Embed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606040"/>
            <a:ext cx="1463040" cy="365760"/>
          </a:xfrm>
          <a:prstGeom prst="roundRect">
            <a:avLst>
              <a:gd name="adj" fmla="val 5000"/>
            </a:avLst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624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0C0C28"/>
                </a:solidFill>
                <a:latin typeface="Plus Jakarta Sans"/>
              </a:defRPr>
            </a:pPr>
            <a:r>
              <a:t>Ongoing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154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C9A96E"/>
                </a:solidFill>
                <a:latin typeface="Plus Jakarta Sans"/>
              </a:defRPr>
            </a:pPr>
            <a:r>
              <a:t>AI becomes part of how the company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749039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400"/>
              </a:spcAft>
              <a:defRPr sz="1200" b="0">
                <a:solidFill>
                  <a:srgbClr val="AAAABB"/>
                </a:solidFill>
                <a:latin typeface="Plus Jakarta Sans"/>
              </a:defRPr>
            </a:pPr>
            <a:r>
              <a:t>+  Everything in Equip, plus:</a:t>
            </a:r>
          </a:p>
          <a:p>
            <a:pPr algn="l">
              <a:lnSpc>
                <a:spcPts val="2039"/>
              </a:lnSpc>
              <a:spcAft>
                <a:spcPts val="400"/>
              </a:spcAft>
              <a:defRPr sz="1200" b="0">
                <a:solidFill>
                  <a:srgbClr val="AAAABB"/>
                </a:solidFill>
                <a:latin typeface="Plus Jakarta Sans"/>
              </a:defRPr>
            </a:pPr>
            <a:r>
              <a:t>+  Build and maintain company folder</a:t>
            </a:r>
          </a:p>
          <a:p>
            <a:pPr algn="l">
              <a:lnSpc>
                <a:spcPts val="2039"/>
              </a:lnSpc>
              <a:spcAft>
                <a:spcPts val="400"/>
              </a:spcAft>
              <a:defRPr sz="1200" b="0">
                <a:solidFill>
                  <a:srgbClr val="AAAABB"/>
                </a:solidFill>
                <a:latin typeface="Plus Jakarta Sans"/>
              </a:defRPr>
            </a:pPr>
            <a:r>
              <a:t>+  Identify and automate key workflows</a:t>
            </a:r>
          </a:p>
          <a:p>
            <a:pPr algn="l">
              <a:lnSpc>
                <a:spcPts val="2039"/>
              </a:lnSpc>
              <a:spcAft>
                <a:spcPts val="400"/>
              </a:spcAft>
              <a:defRPr sz="1200" b="0">
                <a:solidFill>
                  <a:srgbClr val="AAAABB"/>
                </a:solidFill>
                <a:latin typeface="Plus Jakarta Sans"/>
              </a:defRPr>
            </a:pPr>
            <a:r>
              <a:t>+  Ongoing training and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spcAft>
                <a:spcPts val="0"/>
              </a:spcAft>
              <a:defRPr sz="4000" b="0">
                <a:solidFill>
                  <a:srgbClr val="FFFFFF"/>
                </a:solidFill>
                <a:latin typeface="Cormorant Garamond"/>
              </a:defRPr>
            </a:pPr>
            <a:r>
              <a:t>Ready to see what AI</a:t>
            </a:r>
            <a:br/>
            <a:r>
              <a:t>can do for your company?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926080"/>
            <a:ext cx="210312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89120" y="3383280"/>
            <a:ext cx="3383280" cy="731520"/>
          </a:xfrm>
          <a:prstGeom prst="roundRect">
            <a:avLst>
              <a:gd name="adj" fmla="val 5000"/>
            </a:avLst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0" y="345643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0C0C28"/>
                </a:solidFill>
                <a:latin typeface="Plus Jakarta Sans"/>
              </a:defRPr>
            </a:pPr>
            <a:r>
              <a:t>Book a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888899"/>
                </a:solidFill>
                <a:latin typeface="Plus Jakarta Sans"/>
              </a:defRPr>
            </a:pPr>
            <a:r>
              <a:t>request@zpteam.ai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666688"/>
                </a:solidFill>
                <a:latin typeface="Plus Jakarta Sans"/>
              </a:defRPr>
            </a:pPr>
            <a:r>
              <a:t>zpteam.ai/advisory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